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20"/>
  </p:notesMasterIdLst>
  <p:handoutMasterIdLst>
    <p:handoutMasterId r:id="rId21"/>
  </p:handoutMasterIdLst>
  <p:sldIdLst>
    <p:sldId id="271" r:id="rId2"/>
    <p:sldId id="272" r:id="rId3"/>
    <p:sldId id="276" r:id="rId4"/>
    <p:sldId id="277" r:id="rId5"/>
    <p:sldId id="273" r:id="rId6"/>
    <p:sldId id="274" r:id="rId7"/>
    <p:sldId id="278" r:id="rId8"/>
    <p:sldId id="279" r:id="rId9"/>
    <p:sldId id="282" r:id="rId10"/>
    <p:sldId id="280" r:id="rId11"/>
    <p:sldId id="283" r:id="rId12"/>
    <p:sldId id="281" r:id="rId13"/>
    <p:sldId id="284" r:id="rId14"/>
    <p:sldId id="275" r:id="rId15"/>
    <p:sldId id="285" r:id="rId16"/>
    <p:sldId id="286" r:id="rId17"/>
    <p:sldId id="287" r:id="rId18"/>
    <p:sldId id="288" r:id="rId19"/>
  </p:sldIdLst>
  <p:sldSz cx="12192000" cy="6858000"/>
  <p:notesSz cx="6858000" cy="9144000"/>
  <p:embeddedFontLs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AF0000"/>
    <a:srgbClr val="BF2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60" autoAdjust="0"/>
    <p:restoredTop sz="86218" autoAdjust="0"/>
  </p:normalViewPr>
  <p:slideViewPr>
    <p:cSldViewPr>
      <p:cViewPr varScale="1">
        <p:scale>
          <a:sx n="85" d="100"/>
          <a:sy n="85" d="100"/>
        </p:scale>
        <p:origin x="76" y="144"/>
      </p:cViewPr>
      <p:guideLst>
        <p:guide orient="horz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6" d="100"/>
          <a:sy n="56" d="100"/>
        </p:scale>
        <p:origin x="-253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A00E0-8A82-468F-9B2B-F8EB4AB6399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C4D65-DA11-4126-9556-9310B8956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7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F7AD5-1E06-481F-9C05-C3A40CB42C6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F22EF-CF13-4EA3-BA93-BBE40C15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94329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00" y="3733800"/>
            <a:ext cx="10566400" cy="1219200"/>
          </a:xfrm>
        </p:spPr>
        <p:txBody>
          <a:bodyPr anchor="b"/>
          <a:lstStyle>
            <a:lvl1pPr algn="ctr">
              <a:defRPr sz="3600">
                <a:solidFill>
                  <a:srgbClr val="C8102E"/>
                </a:solidFill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34240"/>
            <a:ext cx="8737600" cy="80486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0"/>
          <a:stretch/>
        </p:blipFill>
        <p:spPr>
          <a:xfrm>
            <a:off x="4344455" y="358251"/>
            <a:ext cx="3299890" cy="26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4648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981200"/>
            <a:ext cx="10138129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71600"/>
            <a:ext cx="10160000" cy="533400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C8102E"/>
                </a:solidFill>
              </a:defRPr>
            </a:lvl1pPr>
          </a:lstStyle>
          <a:p>
            <a:pPr lvl="0"/>
            <a:r>
              <a:rPr lang="en-US" dirty="0"/>
              <a:t>Sub-Header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9578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151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609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197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22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52550"/>
            <a:ext cx="512731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92312"/>
            <a:ext cx="51273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8568" y="1352550"/>
            <a:ext cx="508423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8568" y="1992312"/>
            <a:ext cx="50842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0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0080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0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80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76A6A54-2A6B-4242-B691-C4DE4231F394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55200" y="6324601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81000"/>
            <a:ext cx="678610" cy="11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6" r:id="rId3"/>
    <p:sldLayoutId id="2147483661" r:id="rId4"/>
    <p:sldLayoutId id="2147483665" r:id="rId5"/>
    <p:sldLayoutId id="2147483662" r:id="rId6"/>
    <p:sldLayoutId id="2147483663" r:id="rId7"/>
    <p:sldLayoutId id="2147483664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3733800"/>
            <a:ext cx="10566400" cy="1219200"/>
          </a:xfrm>
        </p:spPr>
        <p:txBody>
          <a:bodyPr anchor="t">
            <a:normAutofit/>
          </a:bodyPr>
          <a:lstStyle/>
          <a:p>
            <a:r>
              <a:rPr lang="en-US" dirty="0"/>
              <a:t>Corporate Ownership on Housing Values</a:t>
            </a:r>
            <a:br>
              <a:rPr lang="en-US" dirty="0"/>
            </a:br>
            <a:r>
              <a:rPr lang="en-US" sz="2400" dirty="0"/>
              <a:t>(paper still trying to get out of bed)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Jeremy R. Groves, Ph.D., ACUE</a:t>
            </a:r>
            <a:br>
              <a:rPr lang="en-US" dirty="0"/>
            </a:br>
            <a:r>
              <a:rPr lang="en-US" b="0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39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Housing markets in the United States are not well functioning when it comes to affordability.</a:t>
            </a:r>
          </a:p>
          <a:p>
            <a:r>
              <a:rPr lang="en-US" sz="2200" dirty="0"/>
              <a:t>Since about 2000, there has been a move toward corporate ownership of rental properties, with spikes after the 2007 financial crisis and post-Covid 19.</a:t>
            </a:r>
          </a:p>
          <a:p>
            <a:r>
              <a:rPr lang="en-US" sz="2200" dirty="0"/>
              <a:t>Corporations can usually outbid the more common single-family home buyers.</a:t>
            </a:r>
          </a:p>
          <a:p>
            <a:r>
              <a:rPr lang="en-US" sz="2200" dirty="0"/>
              <a:t>Previous research indicates neighborhoods with more owner-occupiers provide more stability and add to the formation of social capital.</a:t>
            </a:r>
          </a:p>
          <a:p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97412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4D3DA-6181-0ED3-C318-F68B3202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91BB41-322D-3A6F-4CCF-9E9687CBA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502920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Renters have less “skin in the game” and thus may not be concerned with upkeep or neighborhood quality.</a:t>
            </a:r>
          </a:p>
          <a:p>
            <a:r>
              <a:rPr lang="en-US" sz="2400" dirty="0"/>
              <a:t>Large absentee landlords may not be as aware of conditions of the home leading to a higher share of “run down” properties. </a:t>
            </a:r>
          </a:p>
          <a:p>
            <a:r>
              <a:rPr lang="en-US" sz="2400" dirty="0"/>
              <a:t>Research by Federal Reserve Bank of Georgia found that corporate owners where 8% more likely to evict tenants.</a:t>
            </a:r>
          </a:p>
          <a:p>
            <a:r>
              <a:rPr lang="en-US" sz="2400" dirty="0"/>
              <a:t>Corporate owners “scooping up” properties exerts a higher pressure on the limited supply.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24065F-341A-B40E-8DED-1B47D8AC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A04E3316-ECC0-7A1C-5ED3-6989B3669C0E}"/>
              </a:ext>
            </a:extLst>
          </p:cNvPr>
          <p:cNvSpPr txBox="1">
            <a:spLocks/>
          </p:cNvSpPr>
          <p:nvPr/>
        </p:nvSpPr>
        <p:spPr>
          <a:xfrm>
            <a:off x="6324600" y="1371600"/>
            <a:ext cx="502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Corporate buyers tend to buy and renovate poor quality properties in low income and low-quality neighborhoods. </a:t>
            </a:r>
          </a:p>
          <a:p>
            <a:r>
              <a:rPr lang="en-US" sz="2200" dirty="0"/>
              <a:t>Corporate owners can exploit economies of scale.</a:t>
            </a:r>
          </a:p>
          <a:p>
            <a:r>
              <a:rPr lang="en-US" sz="2200" dirty="0"/>
              <a:t>Corporate owners can provide more stability in rental markets and provide programs such as rent-to-buy.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07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B563-AF4E-D947-D648-262FFF82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AE5DF1-30E8-29F3-CA18-EA584672C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Wang, et al (1991)</a:t>
            </a:r>
          </a:p>
          <a:p>
            <a:pPr lvl="1"/>
            <a:r>
              <a:rPr lang="en-US" sz="2200" dirty="0"/>
              <a:t>Look at a unit transitioning from owner to renter occupied housing on the value of the unit, the nearby units, and the larger neighborhood.</a:t>
            </a:r>
          </a:p>
          <a:p>
            <a:pPr lvl="1"/>
            <a:r>
              <a:rPr lang="en-US" sz="2200" dirty="0"/>
              <a:t>Results find that the transition decreases value of the home itself, will spillover onto immediate neighbors, but the direct effect decreases with distance, and has a negative impact on overall neighborhoods. </a:t>
            </a:r>
          </a:p>
          <a:p>
            <a:pPr lvl="1"/>
            <a:r>
              <a:rPr lang="en-US" sz="2200" dirty="0"/>
              <a:t>Find a 3.7% discount for home sold as a rental home and each additional rental home in 5 home radius discounts another $430.</a:t>
            </a:r>
          </a:p>
          <a:p>
            <a:pPr lvl="1"/>
            <a:r>
              <a:rPr lang="en-US" sz="2200" dirty="0"/>
              <a:t>Discount decreases with distance with each home in the outer 8 home radius discounting at about $120.</a:t>
            </a:r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19AA3D-B0C6-73CE-20BA-51730274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</a:p>
        </p:txBody>
      </p:sp>
    </p:spTree>
    <p:extLst>
      <p:ext uri="{BB962C8B-B14F-4D97-AF65-F5344CB8AC3E}">
        <p14:creationId xmlns:p14="http://schemas.microsoft.com/office/powerpoint/2010/main" val="157808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F20C-8B65-1192-EF0E-26A6CF16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87DFFC-B4EE-AC34-6011-ABAE46AE1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err="1"/>
              <a:t>Ihlanfeldt</a:t>
            </a:r>
            <a:r>
              <a:rPr lang="en-US" sz="2200" dirty="0"/>
              <a:t> and Yang (2021)</a:t>
            </a:r>
          </a:p>
          <a:p>
            <a:pPr lvl="1"/>
            <a:r>
              <a:rPr lang="en-US" sz="2200" dirty="0"/>
              <a:t>Estimate the impact on effective tax rates and tax prices of renter occupied or vacation homes.</a:t>
            </a:r>
          </a:p>
          <a:p>
            <a:pPr lvl="1"/>
            <a:r>
              <a:rPr lang="en-US" sz="2200" dirty="0"/>
              <a:t>Estimate a census tract housing price index.</a:t>
            </a:r>
          </a:p>
          <a:p>
            <a:pPr lvl="1"/>
            <a:r>
              <a:rPr lang="en-US" sz="2200" dirty="0"/>
              <a:t>Break SFR into corporate and non-corporate and in- and out-of-state ownership.</a:t>
            </a:r>
          </a:p>
          <a:p>
            <a:pPr lvl="1"/>
            <a:r>
              <a:rPr lang="en-US" sz="2200" dirty="0"/>
              <a:t>Find every one percent increase in rental housing in neighborhood (census tract), depresses value by about 7% at a maximum (between 1.5% and 5%)</a:t>
            </a:r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7C0BE5-8222-6580-4763-ACBB0659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</a:p>
        </p:txBody>
      </p:sp>
    </p:spTree>
    <p:extLst>
      <p:ext uri="{BB962C8B-B14F-4D97-AF65-F5344CB8AC3E}">
        <p14:creationId xmlns:p14="http://schemas.microsoft.com/office/powerpoint/2010/main" val="336157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BCEF-6C60-DA4D-8B77-A47A97CB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5977C6-020F-E492-772D-63129B70A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Property Tax Assessor Tax Rolls for Saint Louis County, MO spanning 2000 through 2023 (limited to 2010 due to census data limitations).</a:t>
            </a:r>
          </a:p>
          <a:p>
            <a:r>
              <a:rPr lang="en-US" sz="2200" dirty="0"/>
              <a:t>Search owner names for key text strings to define ownership type. </a:t>
            </a:r>
          </a:p>
          <a:p>
            <a:pPr lvl="1"/>
            <a:r>
              <a:rPr lang="en-US" sz="2200" dirty="0"/>
              <a:t>About 350,000 parcels over the ten year plus time frame.</a:t>
            </a:r>
          </a:p>
          <a:p>
            <a:r>
              <a:rPr lang="en-US" sz="2200" dirty="0"/>
              <a:t>Use tenure variable to limit to owner versus nonowner occupied homes.</a:t>
            </a:r>
          </a:p>
          <a:p>
            <a:r>
              <a:rPr lang="en-US" sz="2200" dirty="0"/>
              <a:t>Track ownership changes from sales by linking sales data to the ownership data.</a:t>
            </a:r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8A0702-2928-59BF-D09F-BE96EE48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3134495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9D25-94A5-71B0-870F-458FC899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55840D-56CB-9555-31B2-FC4467D7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822D2-8E8D-34EB-8A04-80ED0CAFD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5257800" cy="4829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A38EDF-9439-90A5-A222-B8EC67E19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19800" y="1905000"/>
            <a:ext cx="5942731" cy="396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4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2808-769A-716B-1A4B-F622D9B1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87A8E-C74F-A96C-AB47-237CAFB7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8AC8B6-E88F-471F-3E3B-151C7491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95400"/>
            <a:ext cx="7924800" cy="485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7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4DD9-36F4-3942-2AF5-5819322E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39C67F-BC00-4DA8-948D-147B1ED00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Define four types of ownership</a:t>
            </a:r>
          </a:p>
          <a:p>
            <a:pPr lvl="1"/>
            <a:r>
              <a:rPr lang="en-US" sz="2400" dirty="0"/>
              <a:t>Private: Owner Occupied Homes</a:t>
            </a:r>
          </a:p>
          <a:p>
            <a:pPr lvl="1"/>
            <a:r>
              <a:rPr lang="en-US" sz="2400" dirty="0"/>
              <a:t>Corporate: LLC or other clearly identified corporate body</a:t>
            </a:r>
          </a:p>
          <a:p>
            <a:pPr lvl="1"/>
            <a:r>
              <a:rPr lang="en-US" sz="2400" dirty="0"/>
              <a:t>Legal: Sole proprietor, partnerships, or trustees.</a:t>
            </a:r>
          </a:p>
          <a:p>
            <a:pPr lvl="1"/>
            <a:r>
              <a:rPr lang="en-US" sz="2400" dirty="0"/>
              <a:t>Other: Municipal, REO, HOA, Nonprofit/Church</a:t>
            </a:r>
          </a:p>
          <a:p>
            <a:r>
              <a:rPr lang="en-US" dirty="0"/>
              <a:t>Define four transition types based on reported tenure before and after sale.</a:t>
            </a:r>
          </a:p>
          <a:p>
            <a:pPr lvl="1"/>
            <a:r>
              <a:rPr lang="en-US" sz="2400" dirty="0"/>
              <a:t>Nonowner to Nonowner</a:t>
            </a:r>
          </a:p>
          <a:p>
            <a:pPr lvl="1"/>
            <a:r>
              <a:rPr lang="en-US" sz="2400" dirty="0"/>
              <a:t>Nonowner to Owner</a:t>
            </a:r>
          </a:p>
          <a:p>
            <a:pPr lvl="1"/>
            <a:r>
              <a:rPr lang="en-US" sz="2400" dirty="0"/>
              <a:t>Owner to Nonowner</a:t>
            </a:r>
          </a:p>
          <a:p>
            <a:pPr lvl="1"/>
            <a:r>
              <a:rPr lang="en-US" sz="2400" dirty="0"/>
              <a:t>Owner to Owner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B1F43A-039E-36FE-A227-AD6BE3B3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42594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50F0-9000-7EF4-1D3B-46424BC2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A1914C-CD37-E140-DAD3-7E93AB69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F10ED-81D6-5D6E-41A9-9ADD0852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39" y="1447800"/>
            <a:ext cx="9716261" cy="462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9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199C-84FD-59B1-C65B-6853724D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ACA0DC-36EF-45FD-E076-3FE25132DF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Estimate a (simple) repeat sales model for homes sold at least twice during the 2010 through 2024 timeframe.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𝜄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dirty="0"/>
                  <a:t>We include differences for census characteristics and changes in the share of nearby homes of different ownership types.</a:t>
                </a:r>
              </a:p>
              <a:p>
                <a:r>
                  <a:rPr lang="en-US" dirty="0"/>
                  <a:t>Neighborhoods defined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mile radius of the parcel centroid.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ACA0DC-36EF-45FD-E076-3FE25132D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8" t="-1311" r="-1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75B33E9-0498-5458-6F65-EB5B6C76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143280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25F3-0451-6C0D-0EC7-1833EB76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ADD2CE-B332-A84B-364D-CB643031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24AF1-3DD7-4F01-AE59-617CC13D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11201400" cy="40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15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09AD-6ED0-5C29-4F9C-400BE2D5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E2C63-D752-562B-73A3-559BFD55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62049-0E93-3F65-4AE1-6C2D847C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905000"/>
            <a:ext cx="11201400" cy="33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9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8C102-4084-3530-8AB1-CCF4BF2A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26CD09-A162-FB30-B0AA-B510A545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Wang, et al Replication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81F28-1242-939F-C0CB-943B0AE70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0"/>
            <a:ext cx="11201400" cy="354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0327-E2CE-51AD-8DD8-C0FE8327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464950-B599-7F1D-D0E8-78852608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Wang, et al Replication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521A6-CFB9-290E-2B70-9E345FFE9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9906000" cy="478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45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402A3-0A62-51D9-5515-77DEADB3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034FCF-71DF-D25B-164C-7CB9562F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St. Louis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47C6F-0BA1-F2B2-5575-BBC3F0F9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71600"/>
            <a:ext cx="8229600" cy="47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0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0795-C465-4B7A-65B2-208C78AB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2274BF-B230-3FCE-5926-DA848D97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St. Louis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09A33-B117-D726-8210-895FE4996F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1200" y="1371600"/>
            <a:ext cx="8229600" cy="48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5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E919-F46A-CF04-1B4F-EDABBC7D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F9D6E2-9232-5B75-29FF-FF2FABFB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Working to identify total properties owned by owner</a:t>
            </a:r>
          </a:p>
          <a:p>
            <a:pPr lvl="1"/>
            <a:r>
              <a:rPr lang="en-US" sz="2200" dirty="0"/>
              <a:t>Issue is dealing with spelling errors</a:t>
            </a:r>
          </a:p>
          <a:p>
            <a:r>
              <a:rPr lang="en-US" sz="2200" dirty="0"/>
              <a:t>Dividing up the sample by neighborhood type</a:t>
            </a:r>
          </a:p>
          <a:p>
            <a:pPr lvl="1"/>
            <a:r>
              <a:rPr lang="en-US" sz="2200" dirty="0"/>
              <a:t>Research indicates that some areas are more likely to see increases in corporate ownership than others.</a:t>
            </a:r>
          </a:p>
          <a:p>
            <a:r>
              <a:rPr lang="en-US" sz="2200" dirty="0"/>
              <a:t>Splitting up corporate ownership by local, in-state, and out-of-state.</a:t>
            </a:r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421DE0-68C5-556D-09F7-EF751AF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Work</a:t>
            </a:r>
          </a:p>
        </p:txBody>
      </p:sp>
    </p:spTree>
    <p:extLst>
      <p:ext uri="{BB962C8B-B14F-4D97-AF65-F5344CB8AC3E}">
        <p14:creationId xmlns:p14="http://schemas.microsoft.com/office/powerpoint/2010/main" val="10195521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1756</TotalTime>
  <Words>727</Words>
  <Application>Microsoft Office PowerPoint</Application>
  <PresentationFormat>Widescreen</PresentationFormat>
  <Paragraphs>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Cambria Math</vt:lpstr>
      <vt:lpstr>Arial</vt:lpstr>
      <vt:lpstr>Calibri</vt:lpstr>
      <vt:lpstr>1_Office Theme</vt:lpstr>
      <vt:lpstr>Corporate Ownership on Housing Values (paper still trying to get out of bed)</vt:lpstr>
      <vt:lpstr>Motivation</vt:lpstr>
      <vt:lpstr>Motivation</vt:lpstr>
      <vt:lpstr>Literature</vt:lpstr>
      <vt:lpstr>Literature</vt:lpstr>
      <vt:lpstr>Data and Methodology</vt:lpstr>
      <vt:lpstr>Data and Methodology</vt:lpstr>
      <vt:lpstr>Data and Methodology</vt:lpstr>
      <vt:lpstr>Data and Methodology</vt:lpstr>
      <vt:lpstr>Data and Methodology</vt:lpstr>
      <vt:lpstr>Data and Methodology</vt:lpstr>
      <vt:lpstr>Data and Methodology</vt:lpstr>
      <vt:lpstr>Data and Methodology</vt:lpstr>
      <vt:lpstr>Results – Wang, et al Replication</vt:lpstr>
      <vt:lpstr>Results – Wang, et al Replication</vt:lpstr>
      <vt:lpstr>Results – St. Louis Data</vt:lpstr>
      <vt:lpstr>Results – St. Louis Data</vt:lpstr>
      <vt:lpstr>Further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Jennice O'Brien</dc:creator>
  <cp:lastModifiedBy>Jeremy Groves</cp:lastModifiedBy>
  <cp:revision>106</cp:revision>
  <dcterms:created xsi:type="dcterms:W3CDTF">2010-05-18T23:17:18Z</dcterms:created>
  <dcterms:modified xsi:type="dcterms:W3CDTF">2026-03-21T00:48:06Z</dcterms:modified>
</cp:coreProperties>
</file>