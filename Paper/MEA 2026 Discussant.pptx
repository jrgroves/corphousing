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8" r:id="rId1"/>
  </p:sldMasterIdLst>
  <p:notesMasterIdLst>
    <p:notesMasterId r:id="rId7"/>
  </p:notesMasterIdLst>
  <p:handoutMasterIdLst>
    <p:handoutMasterId r:id="rId8"/>
  </p:handoutMasterIdLst>
  <p:sldIdLst>
    <p:sldId id="271" r:id="rId2"/>
    <p:sldId id="272" r:id="rId3"/>
    <p:sldId id="273" r:id="rId4"/>
    <p:sldId id="274" r:id="rId5"/>
    <p:sldId id="275" r:id="rId6"/>
  </p:sldIdLst>
  <p:sldSz cx="12192000" cy="6858000"/>
  <p:notesSz cx="6858000" cy="9144000"/>
  <p:embeddedFontLst>
    <p:embeddedFont>
      <p:font typeface="Cambria Math" panose="02040503050406030204" pitchFamily="18"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2B45"/>
    <a:srgbClr val="C8102E"/>
    <a:srgbClr val="A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60" autoAdjust="0"/>
    <p:restoredTop sz="86218" autoAdjust="0"/>
  </p:normalViewPr>
  <p:slideViewPr>
    <p:cSldViewPr>
      <p:cViewPr varScale="1">
        <p:scale>
          <a:sx n="85" d="100"/>
          <a:sy n="85" d="100"/>
        </p:scale>
        <p:origin x="76" y="148"/>
      </p:cViewPr>
      <p:guideLst>
        <p:guide orient="horz"/>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56" d="100"/>
          <a:sy n="56" d="100"/>
        </p:scale>
        <p:origin x="-253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1A00E0-8A82-468F-9B2B-F8EB4AB6399D}" type="datetimeFigureOut">
              <a:rPr lang="en-US" smtClean="0"/>
              <a:t>3/20/2026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4DC4D65-DA11-4126-9556-9310B8956503}" type="slidenum">
              <a:rPr lang="en-US" smtClean="0"/>
              <a:t>‹#›</a:t>
            </a:fld>
            <a:endParaRPr lang="en-US" dirty="0"/>
          </a:p>
        </p:txBody>
      </p:sp>
    </p:spTree>
    <p:extLst>
      <p:ext uri="{BB962C8B-B14F-4D97-AF65-F5344CB8AC3E}">
        <p14:creationId xmlns:p14="http://schemas.microsoft.com/office/powerpoint/2010/main" val="145337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F7AD5-1E06-481F-9C05-C3A40CB42C63}" type="datetimeFigureOut">
              <a:rPr lang="en-US" smtClean="0"/>
              <a:t>3/20/2026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BF22EF-CF13-4EA3-BA93-BBE40C153887}" type="slidenum">
              <a:rPr lang="en-US" smtClean="0"/>
              <a:t>‹#›</a:t>
            </a:fld>
            <a:endParaRPr lang="en-US" dirty="0"/>
          </a:p>
        </p:txBody>
      </p:sp>
    </p:spTree>
    <p:extLst>
      <p:ext uri="{BB962C8B-B14F-4D97-AF65-F5344CB8AC3E}">
        <p14:creationId xmlns:p14="http://schemas.microsoft.com/office/powerpoint/2010/main" val="95123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6248400"/>
            <a:ext cx="12192000" cy="609600"/>
          </a:xfrm>
          <a:prstGeom prst="rect">
            <a:avLst/>
          </a:prstGeom>
          <a:solidFill>
            <a:schemeClr val="tx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noFill/>
              </a:ln>
            </a:endParaRPr>
          </a:p>
        </p:txBody>
      </p:sp>
      <p:sp>
        <p:nvSpPr>
          <p:cNvPr id="9" name="Rectangle 8"/>
          <p:cNvSpPr/>
          <p:nvPr userDrawn="1"/>
        </p:nvSpPr>
        <p:spPr>
          <a:xfrm>
            <a:off x="0" y="1"/>
            <a:ext cx="12192000" cy="1194329"/>
          </a:xfrm>
          <a:prstGeom prst="rect">
            <a:avLst/>
          </a:prstGeom>
          <a:solidFill>
            <a:srgbClr val="C8102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noFill/>
              </a:ln>
              <a:effectLst/>
            </a:endParaRPr>
          </a:p>
        </p:txBody>
      </p:sp>
      <p:sp>
        <p:nvSpPr>
          <p:cNvPr id="2" name="Title 1"/>
          <p:cNvSpPr>
            <a:spLocks noGrp="1"/>
          </p:cNvSpPr>
          <p:nvPr>
            <p:ph type="ctrTitle" hasCustomPrompt="1"/>
          </p:nvPr>
        </p:nvSpPr>
        <p:spPr>
          <a:xfrm>
            <a:off x="812800" y="3733800"/>
            <a:ext cx="10566400" cy="1219200"/>
          </a:xfrm>
        </p:spPr>
        <p:txBody>
          <a:bodyPr anchor="b"/>
          <a:lstStyle>
            <a:lvl1pPr algn="ctr">
              <a:defRPr sz="3600">
                <a:solidFill>
                  <a:srgbClr val="C8102E"/>
                </a:solidFill>
              </a:defRPr>
            </a:lvl1pPr>
          </a:lstStyle>
          <a:p>
            <a:r>
              <a:rPr lang="en-US" dirty="0"/>
              <a:t>Click here to edit Master title style</a:t>
            </a:r>
          </a:p>
        </p:txBody>
      </p:sp>
      <p:sp>
        <p:nvSpPr>
          <p:cNvPr id="3" name="Subtitle 2"/>
          <p:cNvSpPr>
            <a:spLocks noGrp="1"/>
          </p:cNvSpPr>
          <p:nvPr>
            <p:ph type="subTitle" idx="1"/>
          </p:nvPr>
        </p:nvSpPr>
        <p:spPr>
          <a:xfrm>
            <a:off x="1625600" y="5134240"/>
            <a:ext cx="8737600" cy="804862"/>
          </a:xfrm>
        </p:spPr>
        <p:txBody>
          <a:bodyPr>
            <a:normAutofit/>
          </a:bodyPr>
          <a:lstStyle>
            <a:lvl1pPr marL="0" indent="0" algn="ctr">
              <a:buNone/>
              <a:defRPr sz="2400" b="1">
                <a:solidFill>
                  <a:schemeClr val="tx1">
                    <a:lumMod val="75000"/>
                    <a:lumOff val="2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b="9020"/>
          <a:stretch/>
        </p:blipFill>
        <p:spPr>
          <a:xfrm>
            <a:off x="4344455" y="358251"/>
            <a:ext cx="3299890" cy="2689749"/>
          </a:xfrm>
          <a:prstGeom prst="rect">
            <a:avLst/>
          </a:prstGeom>
        </p:spPr>
      </p:pic>
    </p:spTree>
    <p:extLst>
      <p:ext uri="{BB962C8B-B14F-4D97-AF65-F5344CB8AC3E}">
        <p14:creationId xmlns:p14="http://schemas.microsoft.com/office/powerpoint/2010/main" val="59529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0"/>
            <a:ext cx="10464800"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6" name="Slide Number Placeholder 5"/>
          <p:cNvSpPr>
            <a:spLocks noGrp="1"/>
          </p:cNvSpPr>
          <p:nvPr>
            <p:ph type="sldNum" sz="quarter" idx="12"/>
          </p:nvPr>
        </p:nvSpPr>
        <p:spPr/>
        <p:txBody>
          <a:bodyPr/>
          <a:lstStyle/>
          <a:p>
            <a:fld id="{B2FED1A7-FB98-43FD-AA3D-E7C3EC56B298}" type="slidenum">
              <a:rPr lang="en-US" smtClean="0"/>
              <a:t>‹#›</a:t>
            </a:fld>
            <a:endParaRPr lang="en-US" dirty="0"/>
          </a:p>
        </p:txBody>
      </p:sp>
      <p:sp>
        <p:nvSpPr>
          <p:cNvPr id="7" name="Title Placeholder 1"/>
          <p:cNvSpPr>
            <a:spLocks noGrp="1"/>
          </p:cNvSpPr>
          <p:nvPr>
            <p:ph type="title"/>
          </p:nvPr>
        </p:nvSpPr>
        <p:spPr>
          <a:xfrm>
            <a:off x="609600" y="152400"/>
            <a:ext cx="10058400" cy="10668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518282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1" y="1981200"/>
            <a:ext cx="10138129"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6" name="Slide Number Placeholder 5"/>
          <p:cNvSpPr>
            <a:spLocks noGrp="1"/>
          </p:cNvSpPr>
          <p:nvPr>
            <p:ph type="sldNum" sz="quarter" idx="12"/>
          </p:nvPr>
        </p:nvSpPr>
        <p:spPr/>
        <p:txBody>
          <a:bodyPr/>
          <a:lstStyle/>
          <a:p>
            <a:fld id="{B2FED1A7-FB98-43FD-AA3D-E7C3EC56B298}" type="slidenum">
              <a:rPr lang="en-US" smtClean="0"/>
              <a:t>‹#›</a:t>
            </a:fld>
            <a:endParaRPr lang="en-US" dirty="0"/>
          </a:p>
        </p:txBody>
      </p:sp>
      <p:sp>
        <p:nvSpPr>
          <p:cNvPr id="8" name="Text Placeholder 7"/>
          <p:cNvSpPr>
            <a:spLocks noGrp="1"/>
          </p:cNvSpPr>
          <p:nvPr>
            <p:ph type="body" sz="quarter" idx="13" hasCustomPrompt="1"/>
          </p:nvPr>
        </p:nvSpPr>
        <p:spPr>
          <a:xfrm>
            <a:off x="609600" y="1371600"/>
            <a:ext cx="10160000" cy="533400"/>
          </a:xfrm>
        </p:spPr>
        <p:txBody>
          <a:bodyPr/>
          <a:lstStyle>
            <a:lvl1pPr marL="0" indent="0">
              <a:buNone/>
              <a:defRPr b="1" baseline="0">
                <a:solidFill>
                  <a:srgbClr val="C8102E"/>
                </a:solidFill>
              </a:defRPr>
            </a:lvl1pPr>
          </a:lstStyle>
          <a:p>
            <a:pPr lvl="0"/>
            <a:r>
              <a:rPr lang="en-US" dirty="0"/>
              <a:t>Sub-Header Text goes here</a:t>
            </a:r>
          </a:p>
        </p:txBody>
      </p:sp>
    </p:spTree>
    <p:extLst>
      <p:ext uri="{BB962C8B-B14F-4D97-AF65-F5344CB8AC3E}">
        <p14:creationId xmlns:p14="http://schemas.microsoft.com/office/powerpoint/2010/main" val="3295786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47800"/>
            <a:ext cx="5384800" cy="46783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47800"/>
            <a:ext cx="5384800" cy="46783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7" name="Slide Number Placeholder 6"/>
          <p:cNvSpPr>
            <a:spLocks noGrp="1"/>
          </p:cNvSpPr>
          <p:nvPr>
            <p:ph type="sldNum" sz="quarter" idx="12"/>
          </p:nvPr>
        </p:nvSpPr>
        <p:spPr/>
        <p:txBody>
          <a:bodyPr/>
          <a:lstStyle/>
          <a:p>
            <a:fld id="{B2FED1A7-FB98-43FD-AA3D-E7C3EC56B298}" type="slidenum">
              <a:rPr lang="en-US" smtClean="0"/>
              <a:t>‹#›</a:t>
            </a:fld>
            <a:endParaRPr lang="en-US" dirty="0"/>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151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524002"/>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524002"/>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7" name="Slide Number Placeholder 6"/>
          <p:cNvSpPr>
            <a:spLocks noGrp="1"/>
          </p:cNvSpPr>
          <p:nvPr>
            <p:ph type="sldNum" sz="quarter" idx="12"/>
          </p:nvPr>
        </p:nvSpPr>
        <p:spPr/>
        <p:txBody>
          <a:bodyPr/>
          <a:lstStyle/>
          <a:p>
            <a:fld id="{B2FED1A7-FB98-43FD-AA3D-E7C3EC56B298}" type="slidenum">
              <a:rPr lang="en-US" smtClean="0"/>
              <a:t>‹#›</a:t>
            </a:fld>
            <a:endParaRPr lang="en-US" dirty="0"/>
          </a:p>
        </p:txBody>
      </p:sp>
      <p:sp>
        <p:nvSpPr>
          <p:cNvPr id="10" name="Content Placeholder 2"/>
          <p:cNvSpPr>
            <a:spLocks noGrp="1"/>
          </p:cNvSpPr>
          <p:nvPr>
            <p:ph sz="half" idx="13"/>
          </p:nvPr>
        </p:nvSpPr>
        <p:spPr>
          <a:xfrm>
            <a:off x="609600" y="3810001"/>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4"/>
          </p:nvPr>
        </p:nvSpPr>
        <p:spPr>
          <a:xfrm>
            <a:off x="6197600" y="3810001"/>
            <a:ext cx="5384800" cy="21335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05224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352550"/>
            <a:ext cx="5127313" cy="639762"/>
          </a:xfrm>
        </p:spPr>
        <p:txBody>
          <a:bodyPr anchor="b"/>
          <a:lstStyle>
            <a:lvl1pPr marL="0" indent="0" algn="ctr">
              <a:buNone/>
              <a:defRPr sz="2400" b="1">
                <a:solidFill>
                  <a:srgbClr val="C8102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1" y="1992312"/>
            <a:ext cx="512731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888568" y="1352550"/>
            <a:ext cx="5084233" cy="639762"/>
          </a:xfrm>
        </p:spPr>
        <p:txBody>
          <a:bodyPr anchor="b"/>
          <a:lstStyle>
            <a:lvl1pPr marL="0" indent="0" algn="ctr">
              <a:buNone/>
              <a:defRPr sz="2400" b="1">
                <a:solidFill>
                  <a:srgbClr val="C8102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88568" y="1992312"/>
            <a:ext cx="50842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9" name="Slide Number Placeholder 8"/>
          <p:cNvSpPr>
            <a:spLocks noGrp="1"/>
          </p:cNvSpPr>
          <p:nvPr>
            <p:ph type="sldNum" sz="quarter" idx="12"/>
          </p:nvPr>
        </p:nvSpPr>
        <p:spPr/>
        <p:txBody>
          <a:bodyPr/>
          <a:lstStyle/>
          <a:p>
            <a:fld id="{B2FED1A7-FB98-43FD-AA3D-E7C3EC56B298}" type="slidenum">
              <a:rPr lang="en-US" smtClean="0"/>
              <a:t>‹#›</a:t>
            </a:fld>
            <a:endParaRPr lang="en-US" dirty="0"/>
          </a:p>
        </p:txBody>
      </p:sp>
    </p:spTree>
    <p:extLst>
      <p:ext uri="{BB962C8B-B14F-4D97-AF65-F5344CB8AC3E}">
        <p14:creationId xmlns:p14="http://schemas.microsoft.com/office/powerpoint/2010/main" val="81100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4" name="Footer Placeholder 3"/>
          <p:cNvSpPr>
            <a:spLocks noGrp="1"/>
          </p:cNvSpPr>
          <p:nvPr>
            <p:ph type="ftr" sz="quarter" idx="11"/>
          </p:nvPr>
        </p:nvSpPr>
        <p:spPr>
          <a:xfrm>
            <a:off x="4165600" y="6400801"/>
            <a:ext cx="3860800"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B2FED1A7-FB98-43FD-AA3D-E7C3EC56B298}" type="slidenum">
              <a:rPr lang="en-US" smtClean="0"/>
              <a:t>‹#›</a:t>
            </a:fld>
            <a:endParaRPr lang="en-US" dirty="0"/>
          </a:p>
        </p:txBody>
      </p:sp>
    </p:spTree>
    <p:extLst>
      <p:ext uri="{BB962C8B-B14F-4D97-AF65-F5344CB8AC3E}">
        <p14:creationId xmlns:p14="http://schemas.microsoft.com/office/powerpoint/2010/main" val="3800708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A6A54-2A6B-4242-B691-C4DE4231F394}" type="datetimeFigureOut">
              <a:rPr lang="en-US" smtClean="0"/>
              <a:t>3/20/2026</a:t>
            </a:fld>
            <a:endParaRPr lang="en-US" dirty="0"/>
          </a:p>
        </p:txBody>
      </p:sp>
      <p:sp>
        <p:nvSpPr>
          <p:cNvPr id="4" name="Slide Number Placeholder 3"/>
          <p:cNvSpPr>
            <a:spLocks noGrp="1"/>
          </p:cNvSpPr>
          <p:nvPr>
            <p:ph type="sldNum" sz="quarter" idx="12"/>
          </p:nvPr>
        </p:nvSpPr>
        <p:spPr/>
        <p:txBody>
          <a:bodyPr/>
          <a:lstStyle/>
          <a:p>
            <a:fld id="{B2FED1A7-FB98-43FD-AA3D-E7C3EC56B298}" type="slidenum">
              <a:rPr lang="en-US" smtClean="0"/>
              <a:t>‹#›</a:t>
            </a:fld>
            <a:endParaRPr lang="en-US" dirty="0"/>
          </a:p>
        </p:txBody>
      </p:sp>
    </p:spTree>
    <p:extLst>
      <p:ext uri="{BB962C8B-B14F-4D97-AF65-F5344CB8AC3E}">
        <p14:creationId xmlns:p14="http://schemas.microsoft.com/office/powerpoint/2010/main" val="405300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6248400"/>
            <a:ext cx="12192000" cy="609600"/>
          </a:xfrm>
          <a:prstGeom prst="rect">
            <a:avLst/>
          </a:prstGeom>
          <a:solidFill>
            <a:schemeClr val="tx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noFill/>
              </a:ln>
            </a:endParaRPr>
          </a:p>
        </p:txBody>
      </p:sp>
      <p:sp>
        <p:nvSpPr>
          <p:cNvPr id="15" name="Rectangle 14"/>
          <p:cNvSpPr/>
          <p:nvPr userDrawn="1"/>
        </p:nvSpPr>
        <p:spPr>
          <a:xfrm>
            <a:off x="0" y="0"/>
            <a:ext cx="12192000" cy="1219200"/>
          </a:xfrm>
          <a:prstGeom prst="rect">
            <a:avLst/>
          </a:prstGeom>
          <a:solidFill>
            <a:srgbClr val="C8102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noFill/>
              </a:ln>
              <a:effectLst/>
            </a:endParaRPr>
          </a:p>
        </p:txBody>
      </p:sp>
      <p:sp>
        <p:nvSpPr>
          <p:cNvPr id="2" name="Title Placeholder 1"/>
          <p:cNvSpPr>
            <a:spLocks noGrp="1"/>
          </p:cNvSpPr>
          <p:nvPr>
            <p:ph type="title"/>
          </p:nvPr>
        </p:nvSpPr>
        <p:spPr>
          <a:xfrm>
            <a:off x="609600" y="152400"/>
            <a:ext cx="10058400" cy="990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371600"/>
            <a:ext cx="109728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08000" y="6340476"/>
            <a:ext cx="1219200" cy="365125"/>
          </a:xfrm>
          <a:prstGeom prst="rect">
            <a:avLst/>
          </a:prstGeom>
        </p:spPr>
        <p:txBody>
          <a:bodyPr vert="horz" lIns="91440" tIns="45720" rIns="91440" bIns="45720" rtlCol="0" anchor="ctr"/>
          <a:lstStyle>
            <a:lvl1pPr algn="l">
              <a:defRPr sz="1200">
                <a:solidFill>
                  <a:schemeClr val="bg1"/>
                </a:solidFill>
              </a:defRPr>
            </a:lvl1pPr>
          </a:lstStyle>
          <a:p>
            <a:fld id="{176A6A54-2A6B-4242-B691-C4DE4231F394}" type="datetimeFigureOut">
              <a:rPr lang="en-US" smtClean="0"/>
              <a:pPr/>
              <a:t>3/20/2026</a:t>
            </a:fld>
            <a:endParaRPr lang="en-US" dirty="0"/>
          </a:p>
        </p:txBody>
      </p:sp>
      <p:sp>
        <p:nvSpPr>
          <p:cNvPr id="6" name="Slide Number Placeholder 5"/>
          <p:cNvSpPr>
            <a:spLocks noGrp="1"/>
          </p:cNvSpPr>
          <p:nvPr>
            <p:ph type="sldNum" sz="quarter" idx="4"/>
          </p:nvPr>
        </p:nvSpPr>
        <p:spPr>
          <a:xfrm>
            <a:off x="9855200" y="6324601"/>
            <a:ext cx="1828800" cy="365125"/>
          </a:xfrm>
          <a:prstGeom prst="rect">
            <a:avLst/>
          </a:prstGeom>
        </p:spPr>
        <p:txBody>
          <a:bodyPr vert="horz" lIns="91440" tIns="45720" rIns="91440" bIns="45720" rtlCol="0" anchor="ctr"/>
          <a:lstStyle>
            <a:lvl1pPr algn="r">
              <a:defRPr sz="1200">
                <a:solidFill>
                  <a:schemeClr val="bg1"/>
                </a:solidFill>
              </a:defRPr>
            </a:lvl1pPr>
          </a:lstStyle>
          <a:p>
            <a:fld id="{B2FED1A7-FB98-43FD-AA3D-E7C3EC56B298}" type="slidenum">
              <a:rPr lang="en-US" smtClean="0"/>
              <a:pPr/>
              <a:t>‹#›</a:t>
            </a:fld>
            <a:endParaRPr lang="en-US" dirty="0"/>
          </a:p>
        </p:txBody>
      </p:sp>
      <p:pic>
        <p:nvPicPr>
          <p:cNvPr id="12" name="Picture 1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1125200" y="381000"/>
            <a:ext cx="678610" cy="1180958"/>
          </a:xfrm>
          <a:prstGeom prst="rect">
            <a:avLst/>
          </a:prstGeom>
        </p:spPr>
      </p:pic>
    </p:spTree>
    <p:extLst>
      <p:ext uri="{BB962C8B-B14F-4D97-AF65-F5344CB8AC3E}">
        <p14:creationId xmlns:p14="http://schemas.microsoft.com/office/powerpoint/2010/main" val="1376378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6" r:id="rId3"/>
    <p:sldLayoutId id="2147483661" r:id="rId4"/>
    <p:sldLayoutId id="2147483665" r:id="rId5"/>
    <p:sldLayoutId id="2147483662" r:id="rId6"/>
    <p:sldLayoutId id="2147483663" r:id="rId7"/>
    <p:sldLayoutId id="2147483664" r:id="rId8"/>
  </p:sldLayoutIdLst>
  <p:txStyles>
    <p:titleStyle>
      <a:lvl1pPr algn="l" defTabSz="914400" rtl="0" eaLnBrk="1" latinLnBrk="0" hangingPunct="1">
        <a:spcBef>
          <a:spcPct val="0"/>
        </a:spcBef>
        <a:buNone/>
        <a:defRPr sz="4000" b="1" kern="1200">
          <a:solidFill>
            <a:schemeClr val="bg1"/>
          </a:solidFill>
          <a:latin typeface="+mj-lt"/>
          <a:ea typeface="Roboto Slab" pitchFamily="2" charset="0"/>
          <a:cs typeface="Arial" pitchFamily="34" charset="0"/>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2800" y="3581400"/>
            <a:ext cx="10566400" cy="1219200"/>
          </a:xfrm>
        </p:spPr>
        <p:txBody>
          <a:bodyPr/>
          <a:lstStyle/>
          <a:p>
            <a:r>
              <a:rPr lang="en-US" dirty="0"/>
              <a:t>Asymmetric Effects of Monetary Policy and Land Use Regulations on U.S. Housing Markets</a:t>
            </a:r>
          </a:p>
        </p:txBody>
      </p:sp>
      <p:sp>
        <p:nvSpPr>
          <p:cNvPr id="4" name="Subtitle 3"/>
          <p:cNvSpPr>
            <a:spLocks noGrp="1"/>
          </p:cNvSpPr>
          <p:nvPr>
            <p:ph type="subTitle" idx="1"/>
          </p:nvPr>
        </p:nvSpPr>
        <p:spPr/>
        <p:txBody>
          <a:bodyPr>
            <a:normAutofit lnSpcReduction="10000"/>
          </a:bodyPr>
          <a:lstStyle/>
          <a:p>
            <a:r>
              <a:rPr lang="en-US" dirty="0"/>
              <a:t>Jeremy R. Groves, Ph.D., ACUE</a:t>
            </a:r>
            <a:br>
              <a:rPr lang="en-US" dirty="0"/>
            </a:br>
            <a:r>
              <a:rPr lang="en-US" b="0" dirty="0"/>
              <a:t>March 2026</a:t>
            </a:r>
          </a:p>
        </p:txBody>
      </p:sp>
      <p:sp>
        <p:nvSpPr>
          <p:cNvPr id="3" name="TextBox 2">
            <a:extLst>
              <a:ext uri="{FF2B5EF4-FFF2-40B4-BE49-F238E27FC236}">
                <a16:creationId xmlns:a16="http://schemas.microsoft.com/office/drawing/2014/main" id="{DCD09278-B21B-90BD-F484-2303E5F562CB}"/>
              </a:ext>
            </a:extLst>
          </p:cNvPr>
          <p:cNvSpPr txBox="1"/>
          <p:nvPr/>
        </p:nvSpPr>
        <p:spPr>
          <a:xfrm>
            <a:off x="4745309" y="3229022"/>
            <a:ext cx="2701381" cy="523220"/>
          </a:xfrm>
          <a:prstGeom prst="rect">
            <a:avLst/>
          </a:prstGeom>
          <a:noFill/>
        </p:spPr>
        <p:txBody>
          <a:bodyPr wrap="none" rtlCol="0">
            <a:spAutoFit/>
          </a:bodyPr>
          <a:lstStyle/>
          <a:p>
            <a:r>
              <a:rPr lang="en-US" sz="2800" b="1" dirty="0">
                <a:solidFill>
                  <a:srgbClr val="BF2B45"/>
                </a:solidFill>
              </a:rPr>
              <a:t>Comments on:</a:t>
            </a:r>
            <a:endParaRPr lang="en-US" b="1" dirty="0">
              <a:solidFill>
                <a:srgbClr val="BF2B45"/>
              </a:solidFill>
            </a:endParaRPr>
          </a:p>
        </p:txBody>
      </p:sp>
    </p:spTree>
    <p:extLst>
      <p:ext uri="{BB962C8B-B14F-4D97-AF65-F5344CB8AC3E}">
        <p14:creationId xmlns:p14="http://schemas.microsoft.com/office/powerpoint/2010/main" val="239249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200" dirty="0"/>
              <a:t>Most homes in the United States are purchased with mortgages with rates related to the monetary policy of the Federal Reserve and FOMC.</a:t>
            </a:r>
          </a:p>
          <a:p>
            <a:r>
              <a:rPr lang="en-US" sz="2200" dirty="0"/>
              <a:t>While all cities (except for Houston, TX) are zoned, however, there is a large variation in the degree of restrictions.</a:t>
            </a:r>
          </a:p>
          <a:p>
            <a:endParaRPr lang="en-US" sz="2200" dirty="0"/>
          </a:p>
          <a:p>
            <a:r>
              <a:rPr lang="en-US" sz="2200" dirty="0"/>
              <a:t>This paper seeks to understand how changes in the Federal Funds rate impact the housing market and if these effects are symmetric and if they differ by land use restriction.</a:t>
            </a:r>
          </a:p>
          <a:p>
            <a:endParaRPr lang="en-US" sz="2200" dirty="0"/>
          </a:p>
          <a:p>
            <a:r>
              <a:rPr lang="en-US" sz="2200" dirty="0"/>
              <a:t>Estimates a PVAR model using GMM to estimate the impact on interest rates on housing price under different housing supply elasticities. </a:t>
            </a:r>
          </a:p>
          <a:p>
            <a:endParaRPr lang="en-US" sz="2200" dirty="0"/>
          </a:p>
        </p:txBody>
      </p:sp>
      <p:sp>
        <p:nvSpPr>
          <p:cNvPr id="3" name="Title 2"/>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39741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1CA47-9BA5-56C5-6553-1D99083167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1B4F7F-CD2F-A5D2-D249-7D3A08DF49C6}"/>
              </a:ext>
            </a:extLst>
          </p:cNvPr>
          <p:cNvSpPr>
            <a:spLocks noGrp="1"/>
          </p:cNvSpPr>
          <p:nvPr>
            <p:ph idx="1"/>
          </p:nvPr>
        </p:nvSpPr>
        <p:spPr/>
        <p:txBody>
          <a:bodyPr>
            <a:normAutofit/>
          </a:bodyPr>
          <a:lstStyle/>
          <a:p>
            <a:endParaRPr lang="en-US" sz="2200" dirty="0"/>
          </a:p>
          <a:p>
            <a:r>
              <a:rPr lang="en-US" sz="2200" dirty="0"/>
              <a:t>There is an inverse relationship between the PHI and the interest rates.</a:t>
            </a:r>
          </a:p>
          <a:p>
            <a:r>
              <a:rPr lang="en-US" sz="2200" dirty="0"/>
              <a:t>The size of the impact depends on regulation restrictiveness</a:t>
            </a:r>
          </a:p>
          <a:p>
            <a:pPr lvl="1"/>
            <a:r>
              <a:rPr lang="en-US" sz="2200" dirty="0"/>
              <a:t>Expansionary Policy: the positive impact on housing prices from a lower interest rate is larger in areas with more restrictive housing regulations.</a:t>
            </a:r>
          </a:p>
          <a:p>
            <a:pPr lvl="1"/>
            <a:endParaRPr lang="en-US" sz="2200" dirty="0"/>
          </a:p>
          <a:p>
            <a:pPr lvl="1"/>
            <a:r>
              <a:rPr lang="en-US" sz="2200" dirty="0"/>
              <a:t>Contractionary Policy: the negative impact on housing prices from a higher interest rate is larger in areas with more restrictive housing regulations.</a:t>
            </a:r>
          </a:p>
        </p:txBody>
      </p:sp>
      <p:sp>
        <p:nvSpPr>
          <p:cNvPr id="3" name="Title 2">
            <a:extLst>
              <a:ext uri="{FF2B5EF4-FFF2-40B4-BE49-F238E27FC236}">
                <a16:creationId xmlns:a16="http://schemas.microsoft.com/office/drawing/2014/main" id="{8F6E4515-D90F-4B66-7EB7-999D54DEF791}"/>
              </a:ext>
            </a:extLst>
          </p:cNvPr>
          <p:cNvSpPr>
            <a:spLocks noGrp="1"/>
          </p:cNvSpPr>
          <p:nvPr>
            <p:ph type="title"/>
          </p:nvPr>
        </p:nvSpPr>
        <p:spPr/>
        <p:txBody>
          <a:bodyPr/>
          <a:lstStyle/>
          <a:p>
            <a:r>
              <a:rPr lang="en-US" dirty="0"/>
              <a:t>Findings</a:t>
            </a:r>
          </a:p>
        </p:txBody>
      </p:sp>
    </p:spTree>
    <p:extLst>
      <p:ext uri="{BB962C8B-B14F-4D97-AF65-F5344CB8AC3E}">
        <p14:creationId xmlns:p14="http://schemas.microsoft.com/office/powerpoint/2010/main" val="3281098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9640-B2BA-01D1-2F07-F3850202EAC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B1040C00-121F-2321-43A0-9DFFFE236E18}"/>
                  </a:ext>
                </a:extLst>
              </p:cNvPr>
              <p:cNvSpPr>
                <a:spLocks noGrp="1"/>
              </p:cNvSpPr>
              <p:nvPr>
                <p:ph idx="1"/>
              </p:nvPr>
            </p:nvSpPr>
            <p:spPr/>
            <p:txBody>
              <a:bodyPr>
                <a:normAutofit lnSpcReduction="10000"/>
              </a:bodyPr>
              <a:lstStyle/>
              <a:p>
                <a:r>
                  <a:rPr lang="en-US" sz="2200" dirty="0"/>
                  <a:t>Note that this is a rather early draft of the paper, so some missing elements are to be expected.</a:t>
                </a:r>
              </a:p>
              <a:p>
                <a:r>
                  <a:rPr lang="en-US" sz="2200" dirty="0"/>
                  <a:t>Figures</a:t>
                </a:r>
              </a:p>
              <a:p>
                <a:pPr lvl="1"/>
                <a:r>
                  <a:rPr lang="en-US" sz="2200" dirty="0"/>
                  <a:t>Figures one and two should have a wider range to help reader see what you want them to see.</a:t>
                </a:r>
              </a:p>
              <a:p>
                <a:pPr lvl="1"/>
                <a:r>
                  <a:rPr lang="en-US" sz="2200" dirty="0"/>
                  <a:t>Figures three and four should be on the same graph to emphasis the changes in PHI growth.</a:t>
                </a:r>
              </a:p>
              <a:p>
                <a:r>
                  <a:rPr lang="en-US" sz="2200" dirty="0"/>
                  <a:t>Theory Model:</a:t>
                </a:r>
              </a:p>
              <a:p>
                <a:pPr lvl="1"/>
                <a:r>
                  <a:rPr lang="en-US" sz="2200" dirty="0"/>
                  <a:t>Develop the supply and the demand functions first, then solve the equilibrium conditions. This will help to formulate comparative statics that will help motivate your empirical test.</a:t>
                </a:r>
              </a:p>
              <a:p>
                <a:pPr lvl="1"/>
                <a:r>
                  <a:rPr lang="en-US" sz="2200" dirty="0"/>
                  <a:t>Explain the </a:t>
                </a:r>
                <a14:m>
                  <m:oMath xmlns:m="http://schemas.openxmlformats.org/officeDocument/2006/math">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𝐶</m:t>
                        </m:r>
                      </m:num>
                      <m:den>
                        <m:r>
                          <a:rPr lang="en-US" sz="2200" b="0" i="1" smtClean="0">
                            <a:latin typeface="Cambria Math" panose="02040503050406030204" pitchFamily="18" charset="0"/>
                          </a:rPr>
                          <m:t>𝑆</m:t>
                        </m:r>
                      </m:den>
                    </m:f>
                    <m:r>
                      <a:rPr lang="en-US" sz="2200" b="0" i="1" smtClean="0">
                        <a:latin typeface="Cambria Math" panose="02040503050406030204" pitchFamily="18" charset="0"/>
                      </a:rPr>
                      <m:t>=</m:t>
                    </m:r>
                    <m:r>
                      <m:rPr>
                        <m:sty m:val="p"/>
                      </m:rPr>
                      <a:rPr lang="en-US" sz="2200" b="0" i="0" smtClean="0">
                        <a:latin typeface="Cambria Math" panose="02040503050406030204" pitchFamily="18" charset="0"/>
                      </a:rPr>
                      <m:t>Δ</m:t>
                    </m:r>
                    <m:r>
                      <a:rPr lang="en-US" sz="2200" b="0" i="1" smtClean="0">
                        <a:latin typeface="Cambria Math" panose="02040503050406030204" pitchFamily="18" charset="0"/>
                      </a:rPr>
                      <m:t>𝑆</m:t>
                    </m:r>
                    <m:r>
                      <a:rPr lang="en-US" sz="2200" b="0" i="1" smtClean="0">
                        <a:latin typeface="Cambria Math" panose="02040503050406030204" pitchFamily="18" charset="0"/>
                      </a:rPr>
                      <m:t>+</m:t>
                    </m:r>
                    <m:r>
                      <a:rPr lang="en-US" sz="2200" b="0" i="1" smtClean="0">
                        <a:latin typeface="Cambria Math" panose="02040503050406030204" pitchFamily="18" charset="0"/>
                      </a:rPr>
                      <m:t>𝛿</m:t>
                    </m:r>
                  </m:oMath>
                </a14:m>
                <a:r>
                  <a:rPr lang="en-US" sz="2200" dirty="0"/>
                  <a:t> term more and are we sure that depreciation enters positively?</a:t>
                </a:r>
              </a:p>
            </p:txBody>
          </p:sp>
        </mc:Choice>
        <mc:Fallback>
          <p:sp>
            <p:nvSpPr>
              <p:cNvPr id="2" name="Content Placeholder 1">
                <a:extLst>
                  <a:ext uri="{FF2B5EF4-FFF2-40B4-BE49-F238E27FC236}">
                    <a16:creationId xmlns:a16="http://schemas.microsoft.com/office/drawing/2014/main" id="{B1040C00-121F-2321-43A0-9DFFFE236E18}"/>
                  </a:ext>
                </a:extLst>
              </p:cNvPr>
              <p:cNvSpPr>
                <a:spLocks noGrp="1" noRot="1" noChangeAspect="1" noMove="1" noResize="1" noEditPoints="1" noAdjustHandles="1" noChangeArrowheads="1" noChangeShapeType="1" noTextEdit="1"/>
              </p:cNvSpPr>
              <p:nvPr>
                <p:ph idx="1"/>
              </p:nvPr>
            </p:nvSpPr>
            <p:spPr>
              <a:blipFill>
                <a:blip r:embed="rId2"/>
                <a:stretch>
                  <a:fillRect l="-641" t="-1573" r="-1340" b="-104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96E052F-B4D4-0FF3-F551-F2E687AA1109}"/>
              </a:ext>
            </a:extLst>
          </p:cNvPr>
          <p:cNvSpPr>
            <a:spLocks noGrp="1"/>
          </p:cNvSpPr>
          <p:nvPr>
            <p:ph type="title"/>
          </p:nvPr>
        </p:nvSpPr>
        <p:spPr/>
        <p:txBody>
          <a:bodyPr/>
          <a:lstStyle/>
          <a:p>
            <a:r>
              <a:rPr lang="en-US" dirty="0"/>
              <a:t>Comments</a:t>
            </a:r>
          </a:p>
        </p:txBody>
      </p:sp>
    </p:spTree>
    <p:extLst>
      <p:ext uri="{BB962C8B-B14F-4D97-AF65-F5344CB8AC3E}">
        <p14:creationId xmlns:p14="http://schemas.microsoft.com/office/powerpoint/2010/main" val="351139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8DC1B-DA78-4A70-8278-0D221FC232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86E47C-CB5D-161B-02B9-AC3616E64476}"/>
              </a:ext>
            </a:extLst>
          </p:cNvPr>
          <p:cNvSpPr>
            <a:spLocks noGrp="1"/>
          </p:cNvSpPr>
          <p:nvPr>
            <p:ph idx="1"/>
          </p:nvPr>
        </p:nvSpPr>
        <p:spPr/>
        <p:txBody>
          <a:bodyPr>
            <a:normAutofit/>
          </a:bodyPr>
          <a:lstStyle/>
          <a:p>
            <a:r>
              <a:rPr lang="en-US" sz="2200" dirty="0"/>
              <a:t>Data and Summary Statistics</a:t>
            </a:r>
          </a:p>
          <a:p>
            <a:pPr lvl="1"/>
            <a:r>
              <a:rPr lang="en-US" sz="2200" dirty="0"/>
              <a:t>This may just be rounding, but why is the PHI different between your two sub-samples?</a:t>
            </a:r>
          </a:p>
          <a:p>
            <a:r>
              <a:rPr lang="en-US" sz="2200" dirty="0"/>
              <a:t>Results</a:t>
            </a:r>
          </a:p>
          <a:p>
            <a:pPr lvl="1"/>
            <a:r>
              <a:rPr lang="en-US" sz="2200" dirty="0"/>
              <a:t>There seems to be a regional element to your restrictiveness and supply elasticity; could you also split your sample of some measure of urbanized space or undeveloped land? Land use regulations are generally in response to density issues and severe decreases in buildable area.</a:t>
            </a:r>
          </a:p>
          <a:p>
            <a:pPr lvl="1"/>
            <a:r>
              <a:rPr lang="en-US" sz="2200" dirty="0"/>
              <a:t>Match up your colors: Dark = Restrictive/Inelastic; Light = Loose/Elastic</a:t>
            </a:r>
          </a:p>
          <a:p>
            <a:pPr lvl="1"/>
            <a:r>
              <a:rPr lang="en-US" sz="2200" dirty="0"/>
              <a:t>How do interest rates impact the supply decision of developers? It seems you may have a classic “two-shifts” model.</a:t>
            </a:r>
          </a:p>
        </p:txBody>
      </p:sp>
      <p:sp>
        <p:nvSpPr>
          <p:cNvPr id="3" name="Title 2">
            <a:extLst>
              <a:ext uri="{FF2B5EF4-FFF2-40B4-BE49-F238E27FC236}">
                <a16:creationId xmlns:a16="http://schemas.microsoft.com/office/drawing/2014/main" id="{4A7658FC-80ED-69DC-914B-EB5BE8C33035}"/>
              </a:ext>
            </a:extLst>
          </p:cNvPr>
          <p:cNvSpPr>
            <a:spLocks noGrp="1"/>
          </p:cNvSpPr>
          <p:nvPr>
            <p:ph type="title"/>
          </p:nvPr>
        </p:nvSpPr>
        <p:spPr/>
        <p:txBody>
          <a:bodyPr/>
          <a:lstStyle/>
          <a:p>
            <a:r>
              <a:rPr lang="en-US" dirty="0"/>
              <a:t>Comments</a:t>
            </a:r>
          </a:p>
        </p:txBody>
      </p:sp>
    </p:spTree>
    <p:extLst>
      <p:ext uri="{BB962C8B-B14F-4D97-AF65-F5344CB8AC3E}">
        <p14:creationId xmlns:p14="http://schemas.microsoft.com/office/powerpoint/2010/main" val="87400401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1819</TotalTime>
  <Words>429</Words>
  <Application>Microsoft Office PowerPoint</Application>
  <PresentationFormat>Widescreen</PresentationFormat>
  <Paragraphs>32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Cambria Math</vt:lpstr>
      <vt:lpstr>Arial</vt:lpstr>
      <vt:lpstr>Calibri</vt:lpstr>
      <vt:lpstr>1_Office Theme</vt:lpstr>
      <vt:lpstr>Asymmetric Effects of Monetary Policy and Land Use Regulations on U.S. Housing Markets</vt:lpstr>
      <vt:lpstr>Summary</vt:lpstr>
      <vt:lpstr>Findings</vt:lpstr>
      <vt:lpstr>Comments</vt:lpstr>
      <vt:lpstr>Comments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Jennice O'Brien</dc:creator>
  <cp:lastModifiedBy>Jeremy Groves</cp:lastModifiedBy>
  <cp:revision>107</cp:revision>
  <dcterms:created xsi:type="dcterms:W3CDTF">2010-05-18T23:17:18Z</dcterms:created>
  <dcterms:modified xsi:type="dcterms:W3CDTF">2026-03-21T00:52:21Z</dcterms:modified>
</cp:coreProperties>
</file>